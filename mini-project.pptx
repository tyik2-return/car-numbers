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3" r:id="rId2"/>
    <p:sldId id="257" r:id="rId3"/>
    <p:sldId id="289" r:id="rId4"/>
    <p:sldId id="274" r:id="rId5"/>
    <p:sldId id="291" r:id="rId6"/>
    <p:sldId id="259" r:id="rId7"/>
    <p:sldId id="292" r:id="rId8"/>
    <p:sldId id="29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85" d="100"/>
          <a:sy n="85" d="100"/>
        </p:scale>
        <p:origin x="126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3403C-7301-4031-B14C-3242D6BF0E8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8DAEF-A4DE-49C3-92DE-FF9382B481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54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8DAEF-A4DE-49C3-92DE-FF9382B4817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477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B8DFD-0AAC-B058-FF4D-793FE6BC4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93713F-9190-BA98-8F99-79C4A0DE2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C5F7A6-B4A5-D03F-718E-052FD7E7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5DE794-AB4A-F1D6-1D11-42E4D01A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C1A4BD-DB30-22DB-EA65-6B41B889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51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77901-EF6D-C270-1E94-5C2B2A62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88A87B-DD25-EC2B-07E5-DB2426680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937595-615A-A4D1-9AF2-AD47A9750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B3C9E3-E313-FB19-E18C-3849BE41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2E881C-F1CF-3E21-6303-C01BC875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280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65E3E-6A2D-FCE4-3E4F-C7BAA6627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B9E935-F74E-0F94-750D-C9C87ACFC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549904-D4E5-6CEF-3C91-248422D37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7678BC-A1DD-6041-95B1-6A721068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00C89C-45E1-EF7D-9D16-C89252FC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91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014BC-65AE-FC0A-A621-E346FE7B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F2DE69-FAD7-D510-5C59-04A6F5603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F06572-A5AF-3BD3-7D32-2171A9662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6B8841-7EA5-120E-210A-ED89BA0F3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960288-757D-179D-6F1F-D874D253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64EE43-A708-9729-7351-BBE23D59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39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6D02FC-8581-35E4-D026-066C3801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D80E8A-02F6-82BE-1C4D-E80F0A5FA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0C0561-0606-79A0-D208-583908E5A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C45BF0-4AC8-B2F4-CEAF-A06F0F20B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9790097-4E43-2011-6B47-4DFA10265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5BFBB7-B59A-32C9-2EC7-D4FD060E0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2E934F-8305-FDE1-A69E-5039AF9A9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45A723B-0B4B-F4FE-5905-4B396521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083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BD55B-A568-CCC9-B92C-1A4F04A1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DB13C95-0C98-74A3-A86D-74ED70CC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3DE89B-9762-750A-9874-2BFD272F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6AAE0C-6978-9121-713B-87B76267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01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1256E6F-64B4-D7D9-E706-0D2F9FE6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1407F6-0878-C057-6DFE-0C82B708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7D38E2-F312-F665-164D-00B5ED897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26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C69BF-D3B8-326D-5DED-3A30B904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212F3-257F-B354-AE51-B596D6023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207E20-76A3-DAAB-B94A-8C92BA0F1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F59139-133F-A027-A219-8789A5F6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E19E58-1DE8-3BC1-12BC-C479DFAF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210996-81CB-873B-0416-6847F829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22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C60DF-FF1C-D0D3-5BF1-56DFEC57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5EAF0F-38E1-42DA-13A5-995665F94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24A36B-720F-329E-0E82-D03E67166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B9EAE0-8048-89D7-85A3-83C47A76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084083-9EAD-3A64-9A8F-6916B4A7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345A70-8213-CA7E-9865-0986F3D0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92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35FDC-621B-4D0C-A64A-7E15EB8A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0B41CD-C5CE-153D-B1AA-1EBC4A357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206CE5-8A16-EF8A-ADBF-316F2114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B8BBCC-15ED-9E93-62B3-F1B3798C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B3ADB3-478C-C74C-3D3B-5126C5D5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991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BFE04DD-A179-9E03-1F8D-007906953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7DC078-2FAD-7557-E6FF-314777BA6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B904A1-EE78-7F18-2D72-B5302C04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C76B7F-618E-0FCC-84C1-E89ED9BB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62F233-C05F-FF29-6BEB-C744A7C5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76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DCE5A-CD3E-5E7E-C416-4111F3BBB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0295FF-A81E-6CB8-05D0-42A95CEB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952724-CBB6-D0D9-D62F-044D7C2BF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F9A3A-B639-4906-932F-CDB48820BE3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B9514D-18E3-2103-398C-46081BEA2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4F111A-91F4-13DF-26C2-70AF29488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35D9B-0711-4D9C-9F36-EC29732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08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5981E-91BA-DCF0-FDA1-302724F9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072" y="113355"/>
            <a:ext cx="9994045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№ </a:t>
            </a:r>
            <a:r>
              <a:rPr lang="en-US" dirty="0"/>
              <a:t>1</a:t>
            </a:r>
            <a:r>
              <a:rPr lang="ru-RU" dirty="0"/>
              <a:t>. Поиск датасета для YOLOv8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4F2010-5B9E-C6F2-0A23-A59C3DAF2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06" y="1873751"/>
            <a:ext cx="5220978" cy="4351338"/>
          </a:xfrm>
        </p:spPr>
        <p:txBody>
          <a:bodyPr/>
          <a:lstStyle/>
          <a:p>
            <a:r>
              <a:rPr lang="ru-RU" dirty="0"/>
              <a:t>Используется датасет для обучения</a:t>
            </a:r>
            <a:r>
              <a:rPr lang="en-US" dirty="0"/>
              <a:t>: </a:t>
            </a:r>
            <a:r>
              <a:rPr lang="en-US" b="1" dirty="0"/>
              <a:t>Russian license plates detection</a:t>
            </a:r>
            <a:endParaRPr lang="ru-RU" dirty="0"/>
          </a:p>
          <a:p>
            <a:r>
              <a:rPr lang="ru-RU" dirty="0"/>
              <a:t>Число изображений</a:t>
            </a:r>
            <a:r>
              <a:rPr lang="en-US" dirty="0"/>
              <a:t>: </a:t>
            </a:r>
            <a:r>
              <a:rPr lang="en-US" b="1" dirty="0"/>
              <a:t>2787</a:t>
            </a:r>
          </a:p>
          <a:p>
            <a:r>
              <a:rPr lang="ru-RU" dirty="0"/>
              <a:t>Источник</a:t>
            </a:r>
            <a:r>
              <a:rPr lang="en-US" dirty="0"/>
              <a:t>: </a:t>
            </a:r>
            <a:r>
              <a:rPr lang="en-US" b="1" dirty="0"/>
              <a:t>https://universe.roboflow.com/ru-anrp/russian-license-plates-detector/dataset/1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B1E5F7-D55D-DD68-9C4E-0567C6A4F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050" y="1324948"/>
            <a:ext cx="3450580" cy="288735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49FB602-4745-C70D-D115-1458B0E65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284" y="3910206"/>
            <a:ext cx="4573433" cy="249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84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1FDB972-DC66-4F7F-481B-47822B47B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0" y="1481427"/>
            <a:ext cx="5239074" cy="511531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361F9-3F70-8A6E-7A21-24B13C50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30510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 №2. </a:t>
            </a:r>
            <a:r>
              <a:rPr lang="en-US" dirty="0"/>
              <a:t>Cuda</a:t>
            </a:r>
            <a:endParaRPr lang="ru-RU" i="0" dirty="0">
              <a:effectLst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1DEC99-1ACA-1FC1-9096-04DD0B4B6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6519" y="1863416"/>
            <a:ext cx="4838249" cy="4351338"/>
          </a:xfrm>
        </p:spPr>
        <p:txBody>
          <a:bodyPr>
            <a:normAutofit/>
          </a:bodyPr>
          <a:lstStyle/>
          <a:p>
            <a:r>
              <a:rPr lang="ru-RU" b="1" dirty="0"/>
              <a:t>CUDA (</a:t>
            </a:r>
            <a:r>
              <a:rPr lang="ru-RU" b="1" dirty="0" err="1"/>
              <a:t>Compute</a:t>
            </a:r>
            <a:r>
              <a:rPr lang="ru-RU" b="1" dirty="0"/>
              <a:t> Unified Device Architecture)</a:t>
            </a:r>
            <a:r>
              <a:rPr lang="ru-RU" dirty="0"/>
              <a:t> — платформа параллельных вычислений и API от компании NVIDIA, которая позволяет использовать графические процессоры (GPU) для выполнения общих вычислений.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CC4C8D-A1DD-DBD5-80E8-7654665E4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70" y="1172113"/>
            <a:ext cx="914528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28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7B33AC-869B-5552-F098-5811E9C02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284" y="1873751"/>
            <a:ext cx="6500405" cy="40002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42A57-2F63-EA16-E428-75B33354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YOLO V8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A708F5-8290-97C0-285C-3CCE9A8EE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06" y="1873751"/>
            <a:ext cx="5220978" cy="4351338"/>
          </a:xfrm>
        </p:spPr>
        <p:txBody>
          <a:bodyPr/>
          <a:lstStyle/>
          <a:p>
            <a:r>
              <a:rPr lang="ru-RU" b="1" dirty="0"/>
              <a:t>YOLOv8</a:t>
            </a:r>
            <a:r>
              <a:rPr lang="ru-RU" dirty="0"/>
              <a:t> —версия семейства моделей YOLO (You Only Look </a:t>
            </a:r>
            <a:r>
              <a:rPr lang="ru-RU" dirty="0" err="1"/>
              <a:t>Once</a:t>
            </a:r>
            <a:r>
              <a:rPr lang="ru-RU" dirty="0"/>
              <a:t>) для детекции объектов в реальном времени. Вышла в 2023 году командой </a:t>
            </a:r>
            <a:r>
              <a:rPr lang="ru-RU" dirty="0" err="1"/>
              <a:t>Ultralytics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Особенности:</a:t>
            </a:r>
          </a:p>
          <a:p>
            <a:r>
              <a:rPr lang="ru-RU" dirty="0"/>
              <a:t>Отказ от </a:t>
            </a:r>
            <a:r>
              <a:rPr lang="en-US" dirty="0"/>
              <a:t>anchor-</a:t>
            </a:r>
            <a:r>
              <a:rPr lang="ru-RU" dirty="0"/>
              <a:t>подхода</a:t>
            </a:r>
          </a:p>
          <a:p>
            <a:r>
              <a:rPr lang="ru-RU" dirty="0"/>
              <a:t>Поддержка различных задач</a:t>
            </a:r>
          </a:p>
          <a:p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9FCDE1-2F9E-743D-B865-33B7D3444BBB}"/>
              </a:ext>
            </a:extLst>
          </p:cNvPr>
          <p:cNvSpPr/>
          <p:nvPr/>
        </p:nvSpPr>
        <p:spPr>
          <a:xfrm>
            <a:off x="7449553" y="2001587"/>
            <a:ext cx="2513597" cy="354263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70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247D6-2BF2-7083-73F5-F45F67B4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8DC6B20-F06B-BD19-1F23-65D0F347F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35" y="4426629"/>
            <a:ext cx="4925112" cy="11431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7B1A9B-EA13-E814-FE9E-4383EF51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264560"/>
            <a:ext cx="12196145" cy="1325563"/>
          </a:xfrm>
        </p:spPr>
        <p:txBody>
          <a:bodyPr/>
          <a:lstStyle/>
          <a:p>
            <a:pPr algn="ctr"/>
            <a:r>
              <a:rPr lang="ru-RU" dirty="0"/>
              <a:t>№ 3. обучение </a:t>
            </a:r>
            <a:r>
              <a:rPr lang="en-US" dirty="0"/>
              <a:t>YOLOv8N</a:t>
            </a:r>
            <a:endParaRPr lang="ru-RU" i="0" dirty="0">
              <a:effectLst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05F5D3C-7E95-CB8B-7487-C25E345FC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235" y="1590123"/>
            <a:ext cx="4673325" cy="3761808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ru-RU" dirty="0"/>
              <a:t>Скачиваем модель</a:t>
            </a:r>
          </a:p>
          <a:p>
            <a:pPr marL="514350" indent="-514350">
              <a:buAutoNum type="arabicParenR"/>
            </a:pPr>
            <a:r>
              <a:rPr lang="ru-RU" dirty="0"/>
              <a:t>Проверяем наличие </a:t>
            </a:r>
            <a:r>
              <a:rPr lang="en-US" dirty="0" err="1"/>
              <a:t>cuda</a:t>
            </a:r>
            <a:endParaRPr lang="en-US" dirty="0"/>
          </a:p>
          <a:p>
            <a:pPr marL="514350" indent="-514350">
              <a:buAutoNum type="arabicParenR"/>
            </a:pPr>
            <a:r>
              <a:rPr lang="ru-RU" dirty="0"/>
              <a:t>Прописываем параметры</a:t>
            </a:r>
            <a:endParaRPr lang="en-US" dirty="0"/>
          </a:p>
          <a:p>
            <a:pPr marL="514350" indent="-514350">
              <a:buAutoNum type="arabicParenR"/>
            </a:pPr>
            <a:r>
              <a:rPr lang="ru-RU" dirty="0"/>
              <a:t>Обучение модели</a:t>
            </a:r>
          </a:p>
          <a:p>
            <a:pPr marL="514350" indent="-514350">
              <a:buAutoNum type="arabicParenR"/>
            </a:pPr>
            <a:r>
              <a:rPr lang="ru-RU" dirty="0"/>
              <a:t>Сохранение как </a:t>
            </a:r>
            <a:r>
              <a:rPr lang="en-US" dirty="0"/>
              <a:t>best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439BC1B-9EC6-235D-6BAF-F77091A52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592" y="1482232"/>
            <a:ext cx="4033538" cy="511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90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5808E3-6E9E-7564-C366-D94A19491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CRNN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B7E263-0D32-5061-4F13-788652BD7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57531" cy="4351338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CRNN (</a:t>
            </a:r>
            <a:r>
              <a:rPr lang="ru-RU" b="1" dirty="0" err="1"/>
              <a:t>свёрточно</a:t>
            </a:r>
            <a:r>
              <a:rPr lang="ru-RU" b="1" dirty="0"/>
              <a:t>-рекуррентная нейронная сеть)</a:t>
            </a:r>
            <a:r>
              <a:rPr lang="ru-RU" dirty="0"/>
              <a:t> — гибридная архитектура, которая объединяет преимущества свёрточных нейронных сетей (CNN) и рекуррентных нейронных сетей (RNN).</a:t>
            </a:r>
          </a:p>
          <a:p>
            <a:r>
              <a:rPr lang="ru-RU" b="1" dirty="0"/>
              <a:t>Основная особенность CRNN</a:t>
            </a:r>
            <a:r>
              <a:rPr lang="ru-RU" dirty="0"/>
              <a:t> — совмещение свёрточных слоёв CNN для извлечения локальных и пространственных признаков из изображений и рекуррентных слоёв RNN для учёта контекста и последовательности информации.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BD01F6-F1D6-107F-2D46-82B2E0936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731" y="2396505"/>
            <a:ext cx="6450041" cy="240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55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C97B6B2-2F20-8C67-2926-5871DA8AF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0" y="1410356"/>
            <a:ext cx="5315669" cy="520951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926C0-2930-6DBC-D0E0-78902A897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22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ru-RU" sz="4000" dirty="0"/>
              <a:t>№4. </a:t>
            </a:r>
            <a:r>
              <a:rPr lang="en-US" sz="4000" dirty="0"/>
              <a:t>CRNN</a:t>
            </a:r>
            <a:r>
              <a:rPr lang="ru-RU" sz="4000" dirty="0"/>
              <a:t> на детектируемых фрагментах изображений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0081D6-B687-FF6B-D0E8-7F4A6E1A0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883" y="2420074"/>
            <a:ext cx="6936442" cy="159504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EB9355-D481-1CA5-FEEC-A331630DD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626" y="1067408"/>
            <a:ext cx="3315163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05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C2702-370B-981A-18E5-560C2D2C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C7283BE-F931-A767-76CF-C8D2E164B85C}"/>
              </a:ext>
            </a:extLst>
          </p:cNvPr>
          <p:cNvSpPr txBox="1">
            <a:spLocks/>
          </p:cNvSpPr>
          <p:nvPr/>
        </p:nvSpPr>
        <p:spPr>
          <a:xfrm>
            <a:off x="716973" y="2222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/>
              <a:t>№5. Загрузка видео для чтения номеров машин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78D1EF9-8497-4FD8-D2DD-E3DDC54AC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44286"/>
            <a:ext cx="4124131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Открытие исходного видео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Получение метаданных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Создание объекта для записи </a:t>
            </a:r>
            <a:r>
              <a:rPr lang="ru-RU" dirty="0" err="1"/>
              <a:t>измененого</a:t>
            </a:r>
            <a:r>
              <a:rPr lang="ru-RU" dirty="0"/>
              <a:t> видео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5FA4FD-ADD0-821D-E08E-6216E353F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845"/>
          <a:stretch>
            <a:fillRect/>
          </a:stretch>
        </p:blipFill>
        <p:spPr>
          <a:xfrm>
            <a:off x="5450898" y="1547813"/>
            <a:ext cx="4534376" cy="169568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170C5A3-95FE-BB4B-ABBE-5E41878F0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430" y="3243500"/>
            <a:ext cx="3983426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41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2E82C3C-94A1-FED3-C36E-9F59EAE9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7" y="361950"/>
            <a:ext cx="4080054" cy="5983091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23278DA-51B1-E1B3-8A32-5D86DC7C2011}"/>
              </a:ext>
            </a:extLst>
          </p:cNvPr>
          <p:cNvSpPr txBox="1">
            <a:spLocks/>
          </p:cNvSpPr>
          <p:nvPr/>
        </p:nvSpPr>
        <p:spPr>
          <a:xfrm>
            <a:off x="716973" y="2222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/>
              <a:t>№6. Чтение номеров из видео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4FAB90F-5400-ABCE-25F3-2F74F4AB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257" y="1218406"/>
            <a:ext cx="6819122" cy="3719885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000" dirty="0"/>
              <a:t>Чтение каждого кадра видео в цикле и запускает YOLO-модель для детекции объектов (номерных знаков)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Для каждого найденного объекта вырезаем область и применяет </a:t>
            </a:r>
            <a:r>
              <a:rPr lang="ru-RU" sz="2000" dirty="0" err="1"/>
              <a:t>EasyOCR</a:t>
            </a:r>
            <a:r>
              <a:rPr lang="ru-RU" sz="2000" dirty="0"/>
              <a:t> для распознавания текста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Рисуем на кадре </a:t>
            </a:r>
            <a:r>
              <a:rPr lang="ru-RU" sz="2000" dirty="0" err="1"/>
              <a:t>bounding</a:t>
            </a:r>
            <a:r>
              <a:rPr lang="ru-RU" sz="2000" dirty="0"/>
              <a:t> </a:t>
            </a:r>
            <a:r>
              <a:rPr lang="ru-RU" sz="2000" dirty="0" err="1"/>
              <a:t>boxes</a:t>
            </a:r>
            <a:r>
              <a:rPr lang="ru-RU" sz="2000" dirty="0"/>
              <a:t> (зеленые - с распознанным текстом, красные - без) и аннотации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Добавляем информационную панель с номером кадра, количеством объектов и распознанными номерами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Сохраняем обработанный кадр в новый видеофайл и показывает превью каждые 10 кадров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F4AB21D-6A18-8D64-1BD8-F323F75A0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257" y="4707653"/>
            <a:ext cx="4560410" cy="26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7620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287</Words>
  <Application>Microsoft Office PowerPoint</Application>
  <PresentationFormat>Широкоэкранный</PresentationFormat>
  <Paragraphs>32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№ 1. Поиск датасета для YOLOv8n</vt:lpstr>
      <vt:lpstr> №2. Cuda</vt:lpstr>
      <vt:lpstr>YOLO V8</vt:lpstr>
      <vt:lpstr>№ 3. обучение YOLOv8N</vt:lpstr>
      <vt:lpstr>CRNN</vt:lpstr>
      <vt:lpstr>№4. CRNN на детектируемых фрагментах изображений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Чимит</dc:creator>
  <cp:lastModifiedBy>Пользователь</cp:lastModifiedBy>
  <cp:revision>67</cp:revision>
  <dcterms:created xsi:type="dcterms:W3CDTF">2025-09-23T09:01:41Z</dcterms:created>
  <dcterms:modified xsi:type="dcterms:W3CDTF">2026-04-21T12:35:46Z</dcterms:modified>
</cp:coreProperties>
</file>